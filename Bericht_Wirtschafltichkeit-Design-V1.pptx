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4" r:id="rId2"/>
    <p:sldId id="256" r:id="rId3"/>
    <p:sldId id="257" r:id="rId4"/>
    <p:sldId id="261" r:id="rId5"/>
    <p:sldId id="259" r:id="rId6"/>
    <p:sldId id="263" r:id="rId7"/>
    <p:sldId id="262" r:id="rId8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63" d="100"/>
          <a:sy n="63" d="100"/>
        </p:scale>
        <p:origin x="76" y="20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9E11228-B540-0A9E-5E2C-39D5FD49386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29C9044A-DC16-E242-4BD2-8DD9AA7AB14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F025DA88-BAA9-0417-E866-910350001D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7E3102-00BD-4C34-90DF-5B426C8D0011}" type="datetimeFigureOut">
              <a:rPr lang="de-DE" smtClean="0"/>
              <a:t>18.08.2026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0DFB937E-19CA-1794-2F5C-C6D2595FBB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8559EB1E-A2F1-6E96-9624-D7467803BB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BA5EB4-89A4-4351-B54B-232EC6AD5C81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42124092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18B5B80-FB85-88A5-FA5A-C9C876B8C8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E028D684-B96C-1C8D-5F5E-739950FDD48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01CC0616-C85E-F015-0BBE-F738680FED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7E3102-00BD-4C34-90DF-5B426C8D0011}" type="datetimeFigureOut">
              <a:rPr lang="de-DE" smtClean="0"/>
              <a:t>18.08.2026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16F24E45-25C8-3289-FFC5-CCAE6A02CD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0637BA12-4E92-F1C5-065F-B0A6ED08C2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BA5EB4-89A4-4351-B54B-232EC6AD5C81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62966040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D885539-82CA-5F8A-2A18-72A1BC05E0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9CAA5CE3-BB3F-BFA2-F6E5-C3D5042F61F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55D052AC-098E-DDC9-D6B1-34EAD0D93D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7E3102-00BD-4C34-90DF-5B426C8D0011}" type="datetimeFigureOut">
              <a:rPr lang="de-DE" smtClean="0"/>
              <a:t>18.08.2026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4C4D00AB-7BF5-A993-7DA0-B6E5E265B3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87CC451A-43FB-5831-317E-D06B4CB6DB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BA5EB4-89A4-4351-B54B-232EC6AD5C81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49499217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03A6918-3B3F-2857-48C3-77F3B302AC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48F15ADC-48E4-FA49-CA3E-F72EFD185C7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6781F702-075A-F647-A5A1-3032D635255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BF5BC999-06DB-3766-B056-A8CC2345E0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7E3102-00BD-4C34-90DF-5B426C8D0011}" type="datetimeFigureOut">
              <a:rPr lang="de-DE" smtClean="0"/>
              <a:t>18.08.2026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BBA31B7C-B04A-D489-8A76-1CCC002F36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ABABE533-D7D4-D2A1-8645-E1E1365A3F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BA5EB4-89A4-4351-B54B-232EC6AD5C81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19528125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2430AF0-96FC-5EDA-E7BE-5555E6A87B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6187C6CE-0D63-CD7C-D5F3-17143F6F0DB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250E9393-54F4-C4F0-9721-D03EC66087A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08516B5B-1336-88DE-6FA0-260BA0437CA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6CE22074-CECA-B416-A845-A907FAED0F6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1D42E795-AAD9-F5E4-ADAB-F86CF13072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7E3102-00BD-4C34-90DF-5B426C8D0011}" type="datetimeFigureOut">
              <a:rPr lang="de-DE" smtClean="0"/>
              <a:t>18.08.2026</a:t>
            </a:fld>
            <a:endParaRPr lang="de-DE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FFEDA443-A5D6-FB85-4429-390D5B5308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705AF561-D16E-840C-E0D6-A5C2366E9F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BA5EB4-89A4-4351-B54B-232EC6AD5C81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49436486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3BA1AFB-2BC2-0CB0-1B72-8B10CD6ADE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A6FFC236-C90F-6FC0-AF64-5E6BE44597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7E3102-00BD-4C34-90DF-5B426C8D0011}" type="datetimeFigureOut">
              <a:rPr lang="de-DE" smtClean="0"/>
              <a:t>18.08.2026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1F779AE4-AA4E-4A34-6872-31A62567E7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E593590C-EAA3-F34B-DC1B-75FE315B96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BA5EB4-89A4-4351-B54B-232EC6AD5C81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83269786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3F8E50E6-FAF0-5FDF-B63F-24A389BD93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7E3102-00BD-4C34-90DF-5B426C8D0011}" type="datetimeFigureOut">
              <a:rPr lang="de-DE" smtClean="0"/>
              <a:t>18.08.2026</a:t>
            </a:fld>
            <a:endParaRPr lang="de-DE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C09949EA-4042-26EA-7C62-364A4DB421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B23B5390-1980-3911-6118-835D219D1C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BA5EB4-89A4-4351-B54B-232EC6AD5C81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3554295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AA2A67E-AA2A-97BD-3965-D9D3615CAB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4F8E83FB-9E8E-75D0-75F4-480FA9E77D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FB7BC05F-AC87-4CF1-630B-73C058D927B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5EF97622-0C2F-7395-F12D-998F02B9CB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7E3102-00BD-4C34-90DF-5B426C8D0011}" type="datetimeFigureOut">
              <a:rPr lang="de-DE" smtClean="0"/>
              <a:t>18.08.2026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6962D5CA-59D8-12AD-1CC4-17F1CCEC48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0D7E0F68-79C2-BFB6-4F7E-4F81684463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BA5EB4-89A4-4351-B54B-232EC6AD5C81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63073825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D61D711-0B41-DC58-3B85-5842F8F8DA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B24DCE67-3885-2AEF-5813-960C9606E64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7263078F-6446-F96D-798A-6AFB8358122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3E966CE4-4341-06A9-4546-8606036250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7E3102-00BD-4C34-90DF-5B426C8D0011}" type="datetimeFigureOut">
              <a:rPr lang="de-DE" smtClean="0"/>
              <a:t>18.08.2026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E13AA514-A36C-DF33-5F41-BBF23AD0C8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DCB3E0A3-D168-0899-8EC6-458C7433AD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BA5EB4-89A4-4351-B54B-232EC6AD5C81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62377847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8023A79-30C1-BC68-0228-A056E51D2F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82F58A50-2430-7FF8-062E-6228C368B59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07D05EB6-FB3E-6398-11CA-5902C2F2EC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7E3102-00BD-4C34-90DF-5B426C8D0011}" type="datetimeFigureOut">
              <a:rPr lang="de-DE" smtClean="0"/>
              <a:t>18.08.2026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CD588E25-B2E8-9651-5712-0268592CCE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6D59EF17-2215-E01C-7A80-A6CEFC9C12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BA5EB4-89A4-4351-B54B-232EC6AD5C81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68991757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>
            <a:extLst>
              <a:ext uri="{FF2B5EF4-FFF2-40B4-BE49-F238E27FC236}">
                <a16:creationId xmlns:a16="http://schemas.microsoft.com/office/drawing/2014/main" id="{41C7D570-AA29-3BFA-A543-6F76482F555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69277274-1DDD-52B7-4C56-D3742030353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614C7F38-56A0-EB74-F7A2-A3B7A6D1FF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7E3102-00BD-4C34-90DF-5B426C8D0011}" type="datetimeFigureOut">
              <a:rPr lang="de-DE" smtClean="0"/>
              <a:t>18.08.2026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1DFEB74A-1B6D-C55B-E165-26DC84356F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C97355EA-DAED-7E69-B262-F854101110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BA5EB4-89A4-4351-B54B-232EC6AD5C81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5899211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318E57D9-038A-17ED-E36A-AA65789BC7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23688960-6868-B051-F980-7409C8B0F77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0F8EED61-4E77-1CFB-23C6-CF308490AD8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87E3102-00BD-4C34-90DF-5B426C8D0011}" type="datetimeFigureOut">
              <a:rPr lang="de-DE" smtClean="0"/>
              <a:t>18.08.2026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03074DAA-B4F3-D277-7C4A-C8EC255D489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740272E3-40D9-5070-B40F-6CE8772A56C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2BA5EB4-89A4-4351-B54B-232EC6AD5C81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5997458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10" Type="http://schemas.openxmlformats.org/officeDocument/2006/relationships/image" Target="../media/image14.png"/><Relationship Id="rId4" Type="http://schemas.openxmlformats.org/officeDocument/2006/relationships/image" Target="../media/image5.png"/><Relationship Id="rId9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5C5C8991-E3A5-F79E-D144-138B429E203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8000" y="681950"/>
            <a:ext cx="10515600" cy="4351338"/>
          </a:xfrm>
        </p:spPr>
        <p:txBody>
          <a:bodyPr/>
          <a:lstStyle/>
          <a:p>
            <a:pPr marL="0" indent="0">
              <a:buNone/>
            </a:pPr>
            <a:r>
              <a:rPr lang="de-DE" dirty="0"/>
              <a:t>Seite 2: Dialog Projektvarianten (ist)</a:t>
            </a:r>
          </a:p>
          <a:p>
            <a:pPr marL="0" indent="0">
              <a:buNone/>
            </a:pPr>
            <a:r>
              <a:rPr lang="de-DE" dirty="0"/>
              <a:t>Seite 3: Bericht &amp; Kosten (Ist), Aufruf Dialog Projektvarianten</a:t>
            </a:r>
          </a:p>
          <a:p>
            <a:pPr marL="0" indent="0">
              <a:buNone/>
            </a:pPr>
            <a:r>
              <a:rPr lang="de-DE" dirty="0"/>
              <a:t>Seite  4ff: Soll-Zustand: Die horizontalen Tabs sollen</a:t>
            </a:r>
            <a:br>
              <a:rPr lang="de-DE" dirty="0"/>
            </a:br>
            <a:r>
              <a:rPr lang="de-DE" dirty="0"/>
              <a:t>Vertikal (wie Detaillierte Simulation) angeordnet werden</a:t>
            </a:r>
            <a:br>
              <a:rPr lang="de-DE" dirty="0"/>
            </a:br>
            <a:br>
              <a:rPr lang="de-DE" dirty="0"/>
            </a:br>
            <a:r>
              <a:rPr lang="de-DE" dirty="0"/>
              <a:t>Das Desing soll verbessert werden</a:t>
            </a:r>
            <a:r>
              <a:rPr lang="de-DE"/>
              <a:t>, </a:t>
            </a:r>
            <a:r>
              <a:rPr lang="de-DE" dirty="0"/>
              <a:t>V</a:t>
            </a:r>
            <a:r>
              <a:rPr lang="de-DE"/>
              <a:t>orschläge </a:t>
            </a:r>
            <a:r>
              <a:rPr lang="de-DE" dirty="0"/>
              <a:t>sind nur funktional</a:t>
            </a:r>
            <a:br>
              <a:rPr lang="de-DE" dirty="0"/>
            </a:br>
            <a:endParaRPr lang="de-DE" dirty="0"/>
          </a:p>
          <a:p>
            <a:pPr marL="0" indent="0">
              <a:buNone/>
            </a:pPr>
            <a:r>
              <a:rPr lang="de-DE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90715946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fik 4">
            <a:extLst>
              <a:ext uri="{FF2B5EF4-FFF2-40B4-BE49-F238E27FC236}">
                <a16:creationId xmlns:a16="http://schemas.microsoft.com/office/drawing/2014/main" id="{6F622B94-E815-6565-A75D-4BD143D722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5926" y="63327"/>
            <a:ext cx="11640148" cy="67313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507504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fik 2">
            <a:extLst>
              <a:ext uri="{FF2B5EF4-FFF2-40B4-BE49-F238E27FC236}">
                <a16:creationId xmlns:a16="http://schemas.microsoft.com/office/drawing/2014/main" id="{078A9A39-49FF-967D-FC39-E9FA958F942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8760" y="81507"/>
            <a:ext cx="10431897" cy="67852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859887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EB46A0-E5E2-EE9A-9505-458C0C1112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hteck 5">
            <a:extLst>
              <a:ext uri="{FF2B5EF4-FFF2-40B4-BE49-F238E27FC236}">
                <a16:creationId xmlns:a16="http://schemas.microsoft.com/office/drawing/2014/main" id="{2A9D175D-BE78-5D8D-E677-7049D3AF2555}"/>
              </a:ext>
            </a:extLst>
          </p:cNvPr>
          <p:cNvSpPr/>
          <p:nvPr/>
        </p:nvSpPr>
        <p:spPr>
          <a:xfrm>
            <a:off x="315686" y="487012"/>
            <a:ext cx="11560628" cy="6041572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A3F32791-8027-DF12-6C0A-C0C3FB9FB4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219" y="1186714"/>
            <a:ext cx="4312218" cy="407033"/>
          </a:xfrm>
          <a:prstGeom prst="rect">
            <a:avLst/>
          </a:prstGeom>
        </p:spPr>
      </p:pic>
      <p:pic>
        <p:nvPicPr>
          <p:cNvPr id="7" name="Grafik 6">
            <a:extLst>
              <a:ext uri="{FF2B5EF4-FFF2-40B4-BE49-F238E27FC236}">
                <a16:creationId xmlns:a16="http://schemas.microsoft.com/office/drawing/2014/main" id="{E541BCEA-4E0A-F736-24DA-FCE91FC3458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1908" y="1765418"/>
            <a:ext cx="4887260" cy="3757558"/>
          </a:xfrm>
          <a:prstGeom prst="rect">
            <a:avLst/>
          </a:prstGeom>
        </p:spPr>
      </p:pic>
      <p:pic>
        <p:nvPicPr>
          <p:cNvPr id="9" name="Grafik 8">
            <a:extLst>
              <a:ext uri="{FF2B5EF4-FFF2-40B4-BE49-F238E27FC236}">
                <a16:creationId xmlns:a16="http://schemas.microsoft.com/office/drawing/2014/main" id="{8B30DFC3-50EB-803B-6B44-3BECEF0A8C6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50308" y="1055678"/>
            <a:ext cx="1883112" cy="288477"/>
          </a:xfrm>
          <a:prstGeom prst="rect">
            <a:avLst/>
          </a:prstGeom>
        </p:spPr>
      </p:pic>
      <p:pic>
        <p:nvPicPr>
          <p:cNvPr id="11" name="Grafik 10">
            <a:extLst>
              <a:ext uri="{FF2B5EF4-FFF2-40B4-BE49-F238E27FC236}">
                <a16:creationId xmlns:a16="http://schemas.microsoft.com/office/drawing/2014/main" id="{7ECE6DDF-1DD0-24F7-0394-90A9EE0CC83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54389" y="1287717"/>
            <a:ext cx="2970013" cy="193230"/>
          </a:xfrm>
          <a:prstGeom prst="rect">
            <a:avLst/>
          </a:prstGeom>
        </p:spPr>
      </p:pic>
      <p:pic>
        <p:nvPicPr>
          <p:cNvPr id="13" name="Grafik 12">
            <a:extLst>
              <a:ext uri="{FF2B5EF4-FFF2-40B4-BE49-F238E27FC236}">
                <a16:creationId xmlns:a16="http://schemas.microsoft.com/office/drawing/2014/main" id="{2A1EE411-2F6E-7781-1B31-2840F88E531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18386" y="5913330"/>
            <a:ext cx="2121009" cy="292115"/>
          </a:xfrm>
          <a:prstGeom prst="rect">
            <a:avLst/>
          </a:prstGeom>
        </p:spPr>
      </p:pic>
      <p:pic>
        <p:nvPicPr>
          <p:cNvPr id="15" name="Grafik 14">
            <a:extLst>
              <a:ext uri="{FF2B5EF4-FFF2-40B4-BE49-F238E27FC236}">
                <a16:creationId xmlns:a16="http://schemas.microsoft.com/office/drawing/2014/main" id="{2B74BE46-ED3A-FDB1-8FEE-6184FBF8B034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841748" y="1362947"/>
            <a:ext cx="1930499" cy="311166"/>
          </a:xfrm>
          <a:prstGeom prst="rect">
            <a:avLst/>
          </a:prstGeom>
        </p:spPr>
      </p:pic>
      <p:sp>
        <p:nvSpPr>
          <p:cNvPr id="12" name="Textfeld 11">
            <a:extLst>
              <a:ext uri="{FF2B5EF4-FFF2-40B4-BE49-F238E27FC236}">
                <a16:creationId xmlns:a16="http://schemas.microsoft.com/office/drawing/2014/main" id="{A0693280-E82F-2510-080F-6F1904A7E44E}"/>
              </a:ext>
            </a:extLst>
          </p:cNvPr>
          <p:cNvSpPr txBox="1"/>
          <p:nvPr/>
        </p:nvSpPr>
        <p:spPr>
          <a:xfrm>
            <a:off x="1673014" y="621171"/>
            <a:ext cx="1170600" cy="307777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de-DE" sz="1400" dirty="0"/>
              <a:t>Kosten</a:t>
            </a:r>
          </a:p>
        </p:txBody>
      </p:sp>
      <p:sp>
        <p:nvSpPr>
          <p:cNvPr id="20" name="Textfeld 19">
            <a:extLst>
              <a:ext uri="{FF2B5EF4-FFF2-40B4-BE49-F238E27FC236}">
                <a16:creationId xmlns:a16="http://schemas.microsoft.com/office/drawing/2014/main" id="{9C7EE3EB-853E-9419-FF10-66DB6D11F645}"/>
              </a:ext>
            </a:extLst>
          </p:cNvPr>
          <p:cNvSpPr txBox="1"/>
          <p:nvPr/>
        </p:nvSpPr>
        <p:spPr>
          <a:xfrm>
            <a:off x="2822224" y="611368"/>
            <a:ext cx="160237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400" dirty="0"/>
              <a:t>Wirtschaftlichkeit</a:t>
            </a:r>
          </a:p>
        </p:txBody>
      </p:sp>
      <p:sp>
        <p:nvSpPr>
          <p:cNvPr id="22" name="Textfeld 21">
            <a:extLst>
              <a:ext uri="{FF2B5EF4-FFF2-40B4-BE49-F238E27FC236}">
                <a16:creationId xmlns:a16="http://schemas.microsoft.com/office/drawing/2014/main" id="{6A170E9F-1676-B823-6A44-076DCD8A54B3}"/>
              </a:ext>
            </a:extLst>
          </p:cNvPr>
          <p:cNvSpPr txBox="1"/>
          <p:nvPr/>
        </p:nvSpPr>
        <p:spPr>
          <a:xfrm>
            <a:off x="4306048" y="611877"/>
            <a:ext cx="160237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400" dirty="0"/>
              <a:t>Bericht</a:t>
            </a:r>
          </a:p>
        </p:txBody>
      </p:sp>
      <p:sp>
        <p:nvSpPr>
          <p:cNvPr id="26" name="Textfeld 25">
            <a:extLst>
              <a:ext uri="{FF2B5EF4-FFF2-40B4-BE49-F238E27FC236}">
                <a16:creationId xmlns:a16="http://schemas.microsoft.com/office/drawing/2014/main" id="{C8EDE459-F34B-6BC2-456C-5602F6BBB0A3}"/>
              </a:ext>
            </a:extLst>
          </p:cNvPr>
          <p:cNvSpPr txBox="1"/>
          <p:nvPr/>
        </p:nvSpPr>
        <p:spPr>
          <a:xfrm>
            <a:off x="521041" y="621172"/>
            <a:ext cx="1070016" cy="30777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de-DE" sz="1400" dirty="0"/>
              <a:t>Übersicht</a:t>
            </a:r>
          </a:p>
        </p:txBody>
      </p:sp>
      <p:sp>
        <p:nvSpPr>
          <p:cNvPr id="2" name="Rechteck 1">
            <a:extLst>
              <a:ext uri="{FF2B5EF4-FFF2-40B4-BE49-F238E27FC236}">
                <a16:creationId xmlns:a16="http://schemas.microsoft.com/office/drawing/2014/main" id="{E8909A5A-9198-1618-E24B-765D4FD1E7C4}"/>
              </a:ext>
            </a:extLst>
          </p:cNvPr>
          <p:cNvSpPr/>
          <p:nvPr/>
        </p:nvSpPr>
        <p:spPr>
          <a:xfrm>
            <a:off x="5998464" y="2103120"/>
            <a:ext cx="4471416" cy="313932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>
            <a:spAutoFit/>
          </a:bodyPr>
          <a:lstStyle/>
          <a:p>
            <a:r>
              <a:rPr lang="de-DE" dirty="0"/>
              <a:t>Bei Klick auf Projekt/Variante:</a:t>
            </a:r>
          </a:p>
          <a:p>
            <a:br>
              <a:rPr lang="de-DE" dirty="0"/>
            </a:br>
            <a:r>
              <a:rPr lang="de-DE" dirty="0"/>
              <a:t>Anzeigen der unterschiede der Komponenten zu Stamm, bei Stamm alle Komponenten anzeigen.</a:t>
            </a:r>
            <a:br>
              <a:rPr lang="de-DE" dirty="0"/>
            </a:br>
            <a:br>
              <a:rPr lang="de-DE" dirty="0"/>
            </a:br>
            <a:r>
              <a:rPr lang="de-DE" dirty="0"/>
              <a:t>Erstelle für jede unterschiedlich Komponente eine Möglichkeit diese aus einer anderen Version (Stamm oder Variante) zu überschreiben (mit dieser Funktionalität)</a:t>
            </a:r>
          </a:p>
        </p:txBody>
      </p:sp>
    </p:spTree>
    <p:extLst>
      <p:ext uri="{BB962C8B-B14F-4D97-AF65-F5344CB8AC3E}">
        <p14:creationId xmlns:p14="http://schemas.microsoft.com/office/powerpoint/2010/main" val="412132557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367C3C-E572-E46B-305B-00C1DDC0D7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hteck 5">
            <a:extLst>
              <a:ext uri="{FF2B5EF4-FFF2-40B4-BE49-F238E27FC236}">
                <a16:creationId xmlns:a16="http://schemas.microsoft.com/office/drawing/2014/main" id="{83316E15-6DB4-4253-3FB8-264B1C5AD987}"/>
              </a:ext>
            </a:extLst>
          </p:cNvPr>
          <p:cNvSpPr/>
          <p:nvPr/>
        </p:nvSpPr>
        <p:spPr>
          <a:xfrm>
            <a:off x="315686" y="487012"/>
            <a:ext cx="11560628" cy="6041572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sp>
        <p:nvSpPr>
          <p:cNvPr id="12" name="Textfeld 11">
            <a:extLst>
              <a:ext uri="{FF2B5EF4-FFF2-40B4-BE49-F238E27FC236}">
                <a16:creationId xmlns:a16="http://schemas.microsoft.com/office/drawing/2014/main" id="{DB93B145-40CE-D48C-50E6-CF39B7B8F01B}"/>
              </a:ext>
            </a:extLst>
          </p:cNvPr>
          <p:cNvSpPr txBox="1"/>
          <p:nvPr/>
        </p:nvSpPr>
        <p:spPr>
          <a:xfrm>
            <a:off x="1673014" y="621171"/>
            <a:ext cx="1170600" cy="30777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de-DE" sz="1400" dirty="0"/>
              <a:t>Kosten</a:t>
            </a:r>
          </a:p>
        </p:txBody>
      </p:sp>
      <p:pic>
        <p:nvPicPr>
          <p:cNvPr id="16" name="Grafik 15">
            <a:extLst>
              <a:ext uri="{FF2B5EF4-FFF2-40B4-BE49-F238E27FC236}">
                <a16:creationId xmlns:a16="http://schemas.microsoft.com/office/drawing/2014/main" id="{B6645E25-646D-F7F9-B0F2-EAE0DBEB2B8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7567" y="3754160"/>
            <a:ext cx="2560925" cy="2494357"/>
          </a:xfrm>
          <a:prstGeom prst="rect">
            <a:avLst/>
          </a:prstGeom>
        </p:spPr>
      </p:pic>
      <p:sp>
        <p:nvSpPr>
          <p:cNvPr id="20" name="Textfeld 19">
            <a:extLst>
              <a:ext uri="{FF2B5EF4-FFF2-40B4-BE49-F238E27FC236}">
                <a16:creationId xmlns:a16="http://schemas.microsoft.com/office/drawing/2014/main" id="{F41C1CFF-C814-86A7-1C13-64668EB98F5B}"/>
              </a:ext>
            </a:extLst>
          </p:cNvPr>
          <p:cNvSpPr txBox="1"/>
          <p:nvPr/>
        </p:nvSpPr>
        <p:spPr>
          <a:xfrm>
            <a:off x="2822224" y="611368"/>
            <a:ext cx="160237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400" dirty="0"/>
              <a:t>Wirtschaftlichkeit</a:t>
            </a:r>
          </a:p>
        </p:txBody>
      </p:sp>
      <p:sp>
        <p:nvSpPr>
          <p:cNvPr id="22" name="Textfeld 21">
            <a:extLst>
              <a:ext uri="{FF2B5EF4-FFF2-40B4-BE49-F238E27FC236}">
                <a16:creationId xmlns:a16="http://schemas.microsoft.com/office/drawing/2014/main" id="{E3F79FED-3E1D-A256-D87B-F00BD8A722FB}"/>
              </a:ext>
            </a:extLst>
          </p:cNvPr>
          <p:cNvSpPr txBox="1"/>
          <p:nvPr/>
        </p:nvSpPr>
        <p:spPr>
          <a:xfrm>
            <a:off x="4306048" y="611877"/>
            <a:ext cx="160237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400" dirty="0"/>
              <a:t>Bericht</a:t>
            </a:r>
          </a:p>
        </p:txBody>
      </p:sp>
      <p:sp>
        <p:nvSpPr>
          <p:cNvPr id="26" name="Textfeld 25">
            <a:extLst>
              <a:ext uri="{FF2B5EF4-FFF2-40B4-BE49-F238E27FC236}">
                <a16:creationId xmlns:a16="http://schemas.microsoft.com/office/drawing/2014/main" id="{C362E4B9-D25B-6750-39D3-487425F05FBF}"/>
              </a:ext>
            </a:extLst>
          </p:cNvPr>
          <p:cNvSpPr txBox="1"/>
          <p:nvPr/>
        </p:nvSpPr>
        <p:spPr>
          <a:xfrm>
            <a:off x="521040" y="621171"/>
            <a:ext cx="160237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400" dirty="0"/>
              <a:t>Übersicht</a:t>
            </a:r>
          </a:p>
        </p:txBody>
      </p:sp>
      <p:pic>
        <p:nvPicPr>
          <p:cNvPr id="28" name="Grafik 27">
            <a:extLst>
              <a:ext uri="{FF2B5EF4-FFF2-40B4-BE49-F238E27FC236}">
                <a16:creationId xmlns:a16="http://schemas.microsoft.com/office/drawing/2014/main" id="{6493C269-69D0-9BCE-96FF-EEB8DD2D59F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7567" y="1191152"/>
            <a:ext cx="4929962" cy="2665074"/>
          </a:xfrm>
          <a:prstGeom prst="rect">
            <a:avLst/>
          </a:prstGeom>
        </p:spPr>
      </p:pic>
      <p:pic>
        <p:nvPicPr>
          <p:cNvPr id="30" name="Grafik 29">
            <a:extLst>
              <a:ext uri="{FF2B5EF4-FFF2-40B4-BE49-F238E27FC236}">
                <a16:creationId xmlns:a16="http://schemas.microsoft.com/office/drawing/2014/main" id="{2E147BCF-92A7-066F-BCD4-8C02F7D4A33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50634" y="1191152"/>
            <a:ext cx="5450216" cy="4953616"/>
          </a:xfrm>
          <a:prstGeom prst="rect">
            <a:avLst/>
          </a:prstGeom>
        </p:spPr>
      </p:pic>
      <p:sp>
        <p:nvSpPr>
          <p:cNvPr id="31" name="Textfeld 30">
            <a:extLst>
              <a:ext uri="{FF2B5EF4-FFF2-40B4-BE49-F238E27FC236}">
                <a16:creationId xmlns:a16="http://schemas.microsoft.com/office/drawing/2014/main" id="{D3E797FA-C03B-DB74-31CB-FDB7EA518B64}"/>
              </a:ext>
            </a:extLst>
          </p:cNvPr>
          <p:cNvSpPr txBox="1"/>
          <p:nvPr/>
        </p:nvSpPr>
        <p:spPr>
          <a:xfrm>
            <a:off x="5811380" y="580590"/>
            <a:ext cx="586449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/>
              <a:t>Kosten Investition, Betrieb, Energie aus Kostenverwaltung</a:t>
            </a:r>
            <a:br>
              <a:rPr lang="de-DE" dirty="0"/>
            </a:br>
            <a:r>
              <a:rPr lang="de-DE" dirty="0"/>
              <a:t>kompakt anzeigen, Sprung zu Formular möglich.</a:t>
            </a:r>
          </a:p>
        </p:txBody>
      </p:sp>
    </p:spTree>
    <p:extLst>
      <p:ext uri="{BB962C8B-B14F-4D97-AF65-F5344CB8AC3E}">
        <p14:creationId xmlns:p14="http://schemas.microsoft.com/office/powerpoint/2010/main" val="13040495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BB9173-28C6-3C02-6897-9928B130F5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hteck 5">
            <a:extLst>
              <a:ext uri="{FF2B5EF4-FFF2-40B4-BE49-F238E27FC236}">
                <a16:creationId xmlns:a16="http://schemas.microsoft.com/office/drawing/2014/main" id="{B6415DAF-28A5-277D-6B32-F2C9EE238D4E}"/>
              </a:ext>
            </a:extLst>
          </p:cNvPr>
          <p:cNvSpPr/>
          <p:nvPr/>
        </p:nvSpPr>
        <p:spPr>
          <a:xfrm>
            <a:off x="315686" y="487012"/>
            <a:ext cx="11560628" cy="6041572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2" name="Textfeld 11">
            <a:extLst>
              <a:ext uri="{FF2B5EF4-FFF2-40B4-BE49-F238E27FC236}">
                <a16:creationId xmlns:a16="http://schemas.microsoft.com/office/drawing/2014/main" id="{AA1A437D-92FB-24D6-0EA4-C0662FFD449C}"/>
              </a:ext>
            </a:extLst>
          </p:cNvPr>
          <p:cNvSpPr txBox="1"/>
          <p:nvPr/>
        </p:nvSpPr>
        <p:spPr>
          <a:xfrm>
            <a:off x="1673014" y="621171"/>
            <a:ext cx="1170600" cy="307777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de-DE" sz="1400" dirty="0"/>
              <a:t>Kosten</a:t>
            </a:r>
          </a:p>
        </p:txBody>
      </p:sp>
      <p:sp>
        <p:nvSpPr>
          <p:cNvPr id="20" name="Textfeld 19">
            <a:extLst>
              <a:ext uri="{FF2B5EF4-FFF2-40B4-BE49-F238E27FC236}">
                <a16:creationId xmlns:a16="http://schemas.microsoft.com/office/drawing/2014/main" id="{E20AB320-CD9C-3370-EDCD-68C87FEBB759}"/>
              </a:ext>
            </a:extLst>
          </p:cNvPr>
          <p:cNvSpPr txBox="1"/>
          <p:nvPr/>
        </p:nvSpPr>
        <p:spPr>
          <a:xfrm>
            <a:off x="2703677" y="611876"/>
            <a:ext cx="1602371" cy="30777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de-DE" sz="1400" dirty="0"/>
              <a:t>Wirtschaftlichkeit</a:t>
            </a:r>
          </a:p>
        </p:txBody>
      </p:sp>
      <p:sp>
        <p:nvSpPr>
          <p:cNvPr id="22" name="Textfeld 21">
            <a:extLst>
              <a:ext uri="{FF2B5EF4-FFF2-40B4-BE49-F238E27FC236}">
                <a16:creationId xmlns:a16="http://schemas.microsoft.com/office/drawing/2014/main" id="{1A31E482-EF4E-C860-0674-770D9BF3C6F9}"/>
              </a:ext>
            </a:extLst>
          </p:cNvPr>
          <p:cNvSpPr txBox="1"/>
          <p:nvPr/>
        </p:nvSpPr>
        <p:spPr>
          <a:xfrm>
            <a:off x="4306048" y="611877"/>
            <a:ext cx="160237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400" dirty="0"/>
              <a:t>Bericht</a:t>
            </a:r>
          </a:p>
        </p:txBody>
      </p:sp>
      <p:sp>
        <p:nvSpPr>
          <p:cNvPr id="26" name="Textfeld 25">
            <a:extLst>
              <a:ext uri="{FF2B5EF4-FFF2-40B4-BE49-F238E27FC236}">
                <a16:creationId xmlns:a16="http://schemas.microsoft.com/office/drawing/2014/main" id="{3E34FD25-0FF8-38B8-5A23-FC227A119D1B}"/>
              </a:ext>
            </a:extLst>
          </p:cNvPr>
          <p:cNvSpPr txBox="1"/>
          <p:nvPr/>
        </p:nvSpPr>
        <p:spPr>
          <a:xfrm>
            <a:off x="521040" y="621171"/>
            <a:ext cx="160237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400" dirty="0"/>
              <a:t>Übersicht</a:t>
            </a:r>
          </a:p>
        </p:txBody>
      </p:sp>
      <p:pic>
        <p:nvPicPr>
          <p:cNvPr id="3" name="Grafik 2">
            <a:extLst>
              <a:ext uri="{FF2B5EF4-FFF2-40B4-BE49-F238E27FC236}">
                <a16:creationId xmlns:a16="http://schemas.microsoft.com/office/drawing/2014/main" id="{23D4B149-C9B4-D993-8E0B-D76D9EBE3B0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9784" y="1016501"/>
            <a:ext cx="8439584" cy="5512083"/>
          </a:xfrm>
          <a:prstGeom prst="rect">
            <a:avLst/>
          </a:prstGeom>
        </p:spPr>
      </p:pic>
      <p:sp>
        <p:nvSpPr>
          <p:cNvPr id="4" name="Rechteck 3">
            <a:extLst>
              <a:ext uri="{FF2B5EF4-FFF2-40B4-BE49-F238E27FC236}">
                <a16:creationId xmlns:a16="http://schemas.microsoft.com/office/drawing/2014/main" id="{17AABFE3-62F1-0473-9D0C-3057831F487B}"/>
              </a:ext>
            </a:extLst>
          </p:cNvPr>
          <p:cNvSpPr/>
          <p:nvPr/>
        </p:nvSpPr>
        <p:spPr>
          <a:xfrm>
            <a:off x="8101584" y="6190488"/>
            <a:ext cx="1107784" cy="33809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0" name="Rechteck 9">
            <a:extLst>
              <a:ext uri="{FF2B5EF4-FFF2-40B4-BE49-F238E27FC236}">
                <a16:creationId xmlns:a16="http://schemas.microsoft.com/office/drawing/2014/main" id="{624E1E62-0EFA-7AD3-CAC4-F5F8D17ADB01}"/>
              </a:ext>
            </a:extLst>
          </p:cNvPr>
          <p:cNvSpPr/>
          <p:nvPr/>
        </p:nvSpPr>
        <p:spPr>
          <a:xfrm>
            <a:off x="3617976" y="6190488"/>
            <a:ext cx="1107784" cy="33809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8" name="Rechteck 17">
            <a:extLst>
              <a:ext uri="{FF2B5EF4-FFF2-40B4-BE49-F238E27FC236}">
                <a16:creationId xmlns:a16="http://schemas.microsoft.com/office/drawing/2014/main" id="{BD279CEB-3E9B-6B9D-931B-1861D88A67F1}"/>
              </a:ext>
            </a:extLst>
          </p:cNvPr>
          <p:cNvSpPr/>
          <p:nvPr/>
        </p:nvSpPr>
        <p:spPr>
          <a:xfrm>
            <a:off x="4800635" y="6222945"/>
            <a:ext cx="1107784" cy="33809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82184611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748822-89BE-C6F1-5B92-E14BEE343E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hteck 5">
            <a:extLst>
              <a:ext uri="{FF2B5EF4-FFF2-40B4-BE49-F238E27FC236}">
                <a16:creationId xmlns:a16="http://schemas.microsoft.com/office/drawing/2014/main" id="{82BA02C1-0852-072E-9599-9A987180C3DB}"/>
              </a:ext>
            </a:extLst>
          </p:cNvPr>
          <p:cNvSpPr/>
          <p:nvPr/>
        </p:nvSpPr>
        <p:spPr>
          <a:xfrm>
            <a:off x="315686" y="487012"/>
            <a:ext cx="11560628" cy="6041572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FE2A1730-D287-C5FD-4354-DDED0A56991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1040" y="1678661"/>
            <a:ext cx="4312218" cy="407033"/>
          </a:xfrm>
          <a:prstGeom prst="rect">
            <a:avLst/>
          </a:prstGeom>
        </p:spPr>
      </p:pic>
      <p:pic>
        <p:nvPicPr>
          <p:cNvPr id="7" name="Grafik 6">
            <a:extLst>
              <a:ext uri="{FF2B5EF4-FFF2-40B4-BE49-F238E27FC236}">
                <a16:creationId xmlns:a16="http://schemas.microsoft.com/office/drawing/2014/main" id="{DC550913-9F4E-6104-DF7F-CE01BFEC9B9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09685" y="1569804"/>
            <a:ext cx="4929962" cy="2665074"/>
          </a:xfrm>
          <a:prstGeom prst="rect">
            <a:avLst/>
          </a:prstGeom>
        </p:spPr>
      </p:pic>
      <p:pic>
        <p:nvPicPr>
          <p:cNvPr id="9" name="Grafik 8">
            <a:extLst>
              <a:ext uri="{FF2B5EF4-FFF2-40B4-BE49-F238E27FC236}">
                <a16:creationId xmlns:a16="http://schemas.microsoft.com/office/drawing/2014/main" id="{C674E4C6-D17D-3E4A-424C-37F24FA47AC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64492" y="2235470"/>
            <a:ext cx="1883112" cy="288477"/>
          </a:xfrm>
          <a:prstGeom prst="rect">
            <a:avLst/>
          </a:prstGeom>
        </p:spPr>
      </p:pic>
      <p:pic>
        <p:nvPicPr>
          <p:cNvPr id="11" name="Grafik 10">
            <a:extLst>
              <a:ext uri="{FF2B5EF4-FFF2-40B4-BE49-F238E27FC236}">
                <a16:creationId xmlns:a16="http://schemas.microsoft.com/office/drawing/2014/main" id="{5DA747ED-3353-C1D4-F78E-0D8D814B866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4021" y="2268350"/>
            <a:ext cx="2970013" cy="193230"/>
          </a:xfrm>
          <a:prstGeom prst="rect">
            <a:avLst/>
          </a:prstGeom>
        </p:spPr>
      </p:pic>
      <p:pic>
        <p:nvPicPr>
          <p:cNvPr id="13" name="Grafik 12">
            <a:extLst>
              <a:ext uri="{FF2B5EF4-FFF2-40B4-BE49-F238E27FC236}">
                <a16:creationId xmlns:a16="http://schemas.microsoft.com/office/drawing/2014/main" id="{5E1B21C3-87AB-C1EA-9A12-3F4659861A5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364091" y="3782884"/>
            <a:ext cx="2121009" cy="292115"/>
          </a:xfrm>
          <a:prstGeom prst="rect">
            <a:avLst/>
          </a:prstGeom>
        </p:spPr>
      </p:pic>
      <p:pic>
        <p:nvPicPr>
          <p:cNvPr id="15" name="Grafik 14">
            <a:extLst>
              <a:ext uri="{FF2B5EF4-FFF2-40B4-BE49-F238E27FC236}">
                <a16:creationId xmlns:a16="http://schemas.microsoft.com/office/drawing/2014/main" id="{AEF880D0-712E-6A0F-4232-4764BE36E709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459347" y="2579311"/>
            <a:ext cx="1930499" cy="311166"/>
          </a:xfrm>
          <a:prstGeom prst="rect">
            <a:avLst/>
          </a:prstGeom>
        </p:spPr>
      </p:pic>
      <p:pic>
        <p:nvPicPr>
          <p:cNvPr id="17" name="Grafik 16">
            <a:extLst>
              <a:ext uri="{FF2B5EF4-FFF2-40B4-BE49-F238E27FC236}">
                <a16:creationId xmlns:a16="http://schemas.microsoft.com/office/drawing/2014/main" id="{F478F086-3608-A9B4-8655-81B338F53394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21040" y="3790225"/>
            <a:ext cx="1852046" cy="544720"/>
          </a:xfrm>
          <a:prstGeom prst="rect">
            <a:avLst/>
          </a:prstGeom>
        </p:spPr>
      </p:pic>
      <p:pic>
        <p:nvPicPr>
          <p:cNvPr id="19" name="Grafik 18">
            <a:extLst>
              <a:ext uri="{FF2B5EF4-FFF2-40B4-BE49-F238E27FC236}">
                <a16:creationId xmlns:a16="http://schemas.microsoft.com/office/drawing/2014/main" id="{008C0C99-A567-69F1-8BBA-44BF2072AA35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78450" y="3350012"/>
            <a:ext cx="2570984" cy="315572"/>
          </a:xfrm>
          <a:prstGeom prst="rect">
            <a:avLst/>
          </a:prstGeom>
        </p:spPr>
      </p:pic>
      <p:sp>
        <p:nvSpPr>
          <p:cNvPr id="12" name="Textfeld 11">
            <a:extLst>
              <a:ext uri="{FF2B5EF4-FFF2-40B4-BE49-F238E27FC236}">
                <a16:creationId xmlns:a16="http://schemas.microsoft.com/office/drawing/2014/main" id="{E5F7665B-0604-8111-0420-E94E318FB44B}"/>
              </a:ext>
            </a:extLst>
          </p:cNvPr>
          <p:cNvSpPr txBox="1"/>
          <p:nvPr/>
        </p:nvSpPr>
        <p:spPr>
          <a:xfrm>
            <a:off x="1673014" y="621171"/>
            <a:ext cx="1170600" cy="307777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de-DE" sz="1400" dirty="0"/>
              <a:t>Kosten</a:t>
            </a:r>
          </a:p>
        </p:txBody>
      </p:sp>
      <p:sp>
        <p:nvSpPr>
          <p:cNvPr id="20" name="Textfeld 19">
            <a:extLst>
              <a:ext uri="{FF2B5EF4-FFF2-40B4-BE49-F238E27FC236}">
                <a16:creationId xmlns:a16="http://schemas.microsoft.com/office/drawing/2014/main" id="{051C37E3-064C-9AC8-67A0-AF3266DDC621}"/>
              </a:ext>
            </a:extLst>
          </p:cNvPr>
          <p:cNvSpPr txBox="1"/>
          <p:nvPr/>
        </p:nvSpPr>
        <p:spPr>
          <a:xfrm>
            <a:off x="2822224" y="611368"/>
            <a:ext cx="160237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400" dirty="0"/>
              <a:t>Wirtschaftlichkeit</a:t>
            </a:r>
          </a:p>
        </p:txBody>
      </p:sp>
      <p:sp>
        <p:nvSpPr>
          <p:cNvPr id="22" name="Textfeld 21">
            <a:extLst>
              <a:ext uri="{FF2B5EF4-FFF2-40B4-BE49-F238E27FC236}">
                <a16:creationId xmlns:a16="http://schemas.microsoft.com/office/drawing/2014/main" id="{439F76F8-3B1B-C3E4-D114-E4DE26A91AF9}"/>
              </a:ext>
            </a:extLst>
          </p:cNvPr>
          <p:cNvSpPr txBox="1"/>
          <p:nvPr/>
        </p:nvSpPr>
        <p:spPr>
          <a:xfrm>
            <a:off x="4306048" y="611877"/>
            <a:ext cx="1602371" cy="30777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de-DE" sz="1400" dirty="0"/>
              <a:t>Bericht</a:t>
            </a:r>
          </a:p>
        </p:txBody>
      </p:sp>
      <p:sp>
        <p:nvSpPr>
          <p:cNvPr id="26" name="Textfeld 25">
            <a:extLst>
              <a:ext uri="{FF2B5EF4-FFF2-40B4-BE49-F238E27FC236}">
                <a16:creationId xmlns:a16="http://schemas.microsoft.com/office/drawing/2014/main" id="{D78D2BEE-EF5F-1E8A-5812-588A09F0FEAF}"/>
              </a:ext>
            </a:extLst>
          </p:cNvPr>
          <p:cNvSpPr txBox="1"/>
          <p:nvPr/>
        </p:nvSpPr>
        <p:spPr>
          <a:xfrm>
            <a:off x="521040" y="621171"/>
            <a:ext cx="160237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400" dirty="0"/>
              <a:t>Übersicht</a:t>
            </a:r>
          </a:p>
        </p:txBody>
      </p:sp>
      <p:pic>
        <p:nvPicPr>
          <p:cNvPr id="3" name="Grafik 2">
            <a:extLst>
              <a:ext uri="{FF2B5EF4-FFF2-40B4-BE49-F238E27FC236}">
                <a16:creationId xmlns:a16="http://schemas.microsoft.com/office/drawing/2014/main" id="{4EEDA0F7-4887-235E-202C-D3362A39F015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24021" y="1058124"/>
            <a:ext cx="10582698" cy="52149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734348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133</Words>
  <Application>Microsoft Office PowerPoint</Application>
  <PresentationFormat>Breitbild</PresentationFormat>
  <Paragraphs>23</Paragraphs>
  <Slides>7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7</vt:i4>
      </vt:variant>
    </vt:vector>
  </HeadingPairs>
  <TitlesOfParts>
    <vt:vector size="11" baseType="lpstr">
      <vt:lpstr>Aptos</vt:lpstr>
      <vt:lpstr>Aptos Display</vt:lpstr>
      <vt:lpstr>Arial</vt:lpstr>
      <vt:lpstr>Office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info</dc:creator>
  <cp:lastModifiedBy>info</cp:lastModifiedBy>
  <cp:revision>14</cp:revision>
  <dcterms:created xsi:type="dcterms:W3CDTF">2026-08-16T16:09:53Z</dcterms:created>
  <dcterms:modified xsi:type="dcterms:W3CDTF">2026-08-18T12:26:23Z</dcterms:modified>
</cp:coreProperties>
</file>